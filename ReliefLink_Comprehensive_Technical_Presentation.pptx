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097280"/>
            <a:ext cx="10360152" cy="4663440"/>
          </a:xfrm>
          <a:prstGeom prst="rect">
            <a:avLst>
              <a:gd name="adj" fmla="val 2941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0" y="1508760"/>
            <a:ext cx="2926080" cy="320040"/>
          </a:xfrm>
          <a:prstGeom prst="rect">
            <a:avLst>
              <a:gd name="adj" fmla="val 2285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0" y="15087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MISSION-CRITICAL RELIEF TECH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371600" y="1965960"/>
            <a:ext cx="9418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ReliefLink 🌍🤝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371600" y="2743200"/>
            <a:ext cx="9418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Disaster Response &amp; Humanitarian Relief Coordination Platform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3291840"/>
            <a:ext cx="9418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enterprise-grade MERN-stack and Satellite GIS ecosystem connecting stranded victims, specialized rescue volunteer squads, NGO relief shelters, and humanitarian donors via live geospatial coordination and sub-second dispatch.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371600" y="4480560"/>
            <a:ext cx="9418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71600" y="4709160"/>
            <a:ext cx="941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Author: Vivek   |   Platform: Web-Based Full-Stack MERN   |   Real-Time Engine: WebSockets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&amp; CORE OBJECTIVES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Humanitarian Emergencies, Coordination Gaps Cost Lives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5120640" cy="4846320"/>
          </a:xfrm>
          <a:prstGeom prst="rect">
            <a:avLst>
              <a:gd name="adj" fmla="val 1887"/>
            </a:avLst>
          </a:prstGeom>
          <a:solidFill>
            <a:srgbClr val="FFFFFF"/>
          </a:solidFill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645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The Critical Reality (Legacy Failures)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05840" y="214884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 Lifelines: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direct distress channel; frantic social media forwards overload phone lines and delay urgent medical rescue.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338328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 Deployment: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Rescue squads lack live geospatial intelligence, terrain flood maps, and localized shelter occupancy data.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461772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Chaos: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 stockouts in cutoff remote relief camps while accessible urban shelters receive surplus rations.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1371600"/>
            <a:ext cx="5212080" cy="4846320"/>
          </a:xfrm>
          <a:prstGeom prst="rect">
            <a:avLst>
              <a:gd name="adj" fmla="val 1887"/>
            </a:avLst>
          </a:prstGeom>
          <a:solidFill>
            <a:srgbClr val="FFFFFF"/>
          </a:solidFill>
          <a:ln w="19050">
            <a:solidFill>
              <a:srgbClr val="A7F3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1645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Core Engineering Objectives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92240" y="2240280"/>
            <a:ext cx="502920" cy="411480"/>
          </a:xfrm>
          <a:prstGeom prst="rect">
            <a:avLst>
              <a:gd name="adj" fmla="val 11111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224028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132320" y="2240280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Sub-Second SOS Broadcast
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victims, NGOs, and field volunteers in &lt; 2 seconds using Socket.io WebSockets.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92240" y="3474720"/>
            <a:ext cx="502920" cy="411480"/>
          </a:xfrm>
          <a:prstGeom prst="rect">
            <a:avLst>
              <a:gd name="adj" fmla="val 11111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347472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132320" y="3474720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Proximity Task Matching
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match field tasks based on proximity, first-aid skills, and vehicle availability.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92240" y="4709160"/>
            <a:ext cx="502920" cy="411480"/>
          </a:xfrm>
          <a:prstGeom prst="rect">
            <a:avLst>
              <a:gd name="adj" fmla="val 11111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0" y="470916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132320" y="4709160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Algorithmic Donation Routing
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financial and supply donations directly to the highest-need shelters using Haversine formulas.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ADVANTAGE &amp; ARCHITECTURAL SHIFT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Informal Channels Create Chaos; Centralized Telemetry Saves Lives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2423160" cy="228600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0020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Comms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2057400"/>
            <a:ext cx="20574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Viral forwards &amp; WhatsApp audio cause duplication, false alarms, and responder fatigue.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37560" y="1371600"/>
            <a:ext cx="2423160" cy="228600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20440" y="160020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Ledgers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520440" y="2057400"/>
            <a:ext cx="20574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Handwritten logs lead to delayed warehouse reorders and critical life-support stockouts.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3840480"/>
            <a:ext cx="2423160" cy="228600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406908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Opaque Donations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4526280"/>
            <a:ext cx="20574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Relief money flows without visibility into specific camp shortages or urgent needs.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337560" y="3840480"/>
            <a:ext cx="2423160" cy="228600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20440" y="406908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to 8-Hour Delays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520440" y="4526280"/>
            <a:ext cx="20574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bureaucratic response leaves stranded flood victims without aid in critical hours.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1371600"/>
            <a:ext cx="5303520" cy="4754880"/>
          </a:xfrm>
          <a:prstGeom prst="rect">
            <a:avLst>
              <a:gd name="adj" fmla="val 1923"/>
            </a:avLst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16459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ReliefLink Advantages vs Legacy Systems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00800" y="219456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1-Click GPS SOS Beacon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675120" y="251460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Victims pin exact location instantly via device GPS or cell tower fallback.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400800" y="315468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Sub-Second Volunteer Radar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675120" y="347472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WebSocket alerts notify nearest qualified field volunteers.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400800" y="411480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Dynamic Supply Ledger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675120" y="443484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inventory updates prevent warehouse starvation and stockouts.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400800" y="507492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Geo-Proximity Smart Giving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675120" y="539496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Haversine algorithmic routing connects donors to the most desperate shelters.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&amp; TIERS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Decoupled Full-Stack Architecture for Mission-Critical Reliability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10698480" cy="1078992"/>
          </a:xfrm>
          <a:prstGeom prst="rect">
            <a:avLst>
              <a:gd name="adj" fmla="val 6780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1600200"/>
            <a:ext cx="594360" cy="594360"/>
          </a:xfrm>
          <a:prstGeom prst="rect">
            <a:avLst>
              <a:gd name="adj" fmla="val 12308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6002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737360" y="153619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Tier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737360" y="1901952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Vite + Leaflet GIS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120640" y="1572768"/>
            <a:ext cx="6035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High-Resolution Esri Satellite Maps, Live GIS Heatmaps, Zustand client store, and trilingual i18n support.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31520" y="2606040"/>
            <a:ext cx="10698480" cy="1078992"/>
          </a:xfrm>
          <a:prstGeom prst="rect">
            <a:avLst>
              <a:gd name="adj" fmla="val 6780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0120" y="2834640"/>
            <a:ext cx="594360" cy="594360"/>
          </a:xfrm>
          <a:prstGeom prst="rect">
            <a:avLst>
              <a:gd name="adj" fmla="val 12308"/>
            </a:avLst>
          </a:prstGeom>
          <a:solidFill>
            <a:srgbClr val="DCFCE7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28346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9669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737360" y="277063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 &amp; Real-Time Tier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737360" y="3136392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 WebSockets + Web Push VAPID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120640" y="2807208"/>
            <a:ext cx="6035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distress broadcasting, volunteer geo-location telemetry, and live early warning broadcasts.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31520" y="3840480"/>
            <a:ext cx="10698480" cy="1078992"/>
          </a:xfrm>
          <a:prstGeom prst="rect">
            <a:avLst>
              <a:gd name="adj" fmla="val 6780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60120" y="4069080"/>
            <a:ext cx="594360" cy="594360"/>
          </a:xfrm>
          <a:prstGeom prst="rect">
            <a:avLst>
              <a:gd name="adj" fmla="val 12308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4069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737360" y="400507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&amp; Logic Tier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737360" y="4370832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v18+ &amp; Express.js REST API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120640" y="4041648"/>
            <a:ext cx="6035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JWT &amp; phone OTP auth engine, Haversine routing algorithms, and camp inventory ledgers.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31520" y="5074920"/>
            <a:ext cx="10698480" cy="1078992"/>
          </a:xfrm>
          <a:prstGeom prst="rect">
            <a:avLst>
              <a:gd name="adj" fmla="val 6780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60120" y="5303520"/>
            <a:ext cx="594360" cy="594360"/>
          </a:xfrm>
          <a:prstGeom prst="rect">
            <a:avLst>
              <a:gd name="adj" fmla="val 1230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0120" y="53035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737360" y="523951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 Tier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737360" y="5605272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 + 2dsphere Geospatial Indexing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120640" y="5276088"/>
            <a:ext cx="6035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High-speed $near spherical queries, resilient NoSQL document models, and dynamic inventory schemas.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ROLES &amp; VALUE MATRIX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Interconnected Stakeholders Coordinated on One Live Canvas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2514600" cy="4846320"/>
          </a:xfrm>
          <a:prstGeom prst="rect">
            <a:avLst>
              <a:gd name="adj" fmla="val 3636"/>
            </a:avLst>
          </a:prstGeom>
          <a:solidFill>
            <a:srgbClr val="FFFFFF"/>
          </a:solidFill>
          <a:ln w="19050">
            <a:solidFill>
              <a:srgbClr val="FECAC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0020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🆘 Affected Citizens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2286000"/>
            <a:ext cx="2148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Low-friction Phone OTP verification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14400" y="3246120"/>
            <a:ext cx="2148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1-Click GPS SOS Emergency Beacon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14400" y="4206240"/>
            <a:ext cx="2148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Interactive Relief Camp Locator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14400" y="5166360"/>
            <a:ext cx="2148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Personal safety pin-drop on GIS map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456432" y="1371600"/>
            <a:ext cx="2514600" cy="4846320"/>
          </a:xfrm>
          <a:prstGeom prst="rect">
            <a:avLst>
              <a:gd name="adj" fmla="val 3636"/>
            </a:avLst>
          </a:prstGeom>
          <a:solidFill>
            <a:srgbClr val="FFFFFF"/>
          </a:solidFill>
          <a:ln w="19050">
            <a:solidFill>
              <a:srgbClr val="BFDBF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39312" y="160020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🦺 Field Rescue Volunteers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39312" y="2286000"/>
            <a:ext cx="2148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Registered skills (First Aid, Rescue, Logistics)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639312" y="3246120"/>
            <a:ext cx="2148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Real-time SOS incident radar &amp; visual alert toasts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639312" y="4206240"/>
            <a:ext cx="2148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Turn-by-turn navigation to victims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639312" y="5166360"/>
            <a:ext cx="2148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Task lifecycle updates (En Route, Rescued)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81344" y="1371600"/>
            <a:ext cx="2514600" cy="4846320"/>
          </a:xfrm>
          <a:prstGeom prst="rect">
            <a:avLst>
              <a:gd name="adj" fmla="val 3636"/>
            </a:avLst>
          </a:prstGeom>
          <a:solidFill>
            <a:srgbClr val="FFFFFF"/>
          </a:solidFill>
          <a:ln w="19050">
            <a:solidFill>
              <a:srgbClr val="A7F3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64224" y="160020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🏕️ NGO Camp Administrators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64224" y="2286000"/>
            <a:ext cx="2148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Shelter capacity &amp; live occupancy monitoring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364224" y="3246120"/>
            <a:ext cx="2148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5-category inventory control &amp; auto-deduction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364224" y="4206240"/>
            <a:ext cx="2148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High-priority regional disaster broadcasts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364224" y="5166360"/>
            <a:ext cx="2148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Volunteer deployment &amp; mission assignments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906256" y="1371600"/>
            <a:ext cx="2514600" cy="4846320"/>
          </a:xfrm>
          <a:prstGeom prst="rect">
            <a:avLst>
              <a:gd name="adj" fmla="val 3636"/>
            </a:avLst>
          </a:prstGeom>
          <a:solidFill>
            <a:srgbClr val="FFFFFF"/>
          </a:solidFill>
          <a:ln w="19050">
            <a:solidFill>
              <a:srgbClr val="FDE68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089136" y="160020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 Public Donors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089136" y="2286000"/>
            <a:ext cx="2148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Instant digital payments (UPI / Card)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9089136" y="3246120"/>
            <a:ext cx="2148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Haversine-routed targeted support to dry camps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9089136" y="4206240"/>
            <a:ext cx="2148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Full transparency: direct inventory crediting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9089136" y="5166360"/>
            <a:ext cx="2148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Instant verifiable digital donation receipts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PRIVILEGE MATRIX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 Privileges and Operational Scopes (RBAC Matrix)</a:t>
            </a:r>
            <a:endParaRPr lang="en-US" sz="2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371600"/>
          <a:ext cx="10698480" cy="4754880"/>
        </p:xfrm>
        <a:graphic>
          <a:graphicData uri="http://schemas.openxmlformats.org/drawingml/2006/table">
            <a:tbl>
              <a:tblPr/>
              <a:tblGrid>
                <a:gridCol w="2011680"/>
                <a:gridCol w="2560320"/>
                <a:gridCol w="3474720"/>
                <a:gridCol w="2651760"/>
              </a:tblGrid>
              <a:tr h="9509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Authentication Method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Capabilities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Deliverables &amp; Telemetry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9509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Affected Citizen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Instant Phone OTP (Low friction in panic)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SOS broadcast, safe status, shelter search, aid request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GPS coordinates, distress level, family safety logs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509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 Volunteer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 + Password (JWT token)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 task radar, accept rescue, route navigation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Delivery status, live location updates, mission reports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9509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 Admin / NGO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Organizational JWT (Role-guarded)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 triage, inventory ledger, aid approvals, alerts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Stock alerts, capacity logs, disaster broadcasts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509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 Donor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Guest Session / JWT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Choose recommended camp, donate goods or funds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 transaction reference, item receipt ledger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GEOSPATIAL INTELLIGENCE &amp; TELEMETRY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GIS Telemetry for Precision Search-and-Rescue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5120640" cy="4846320"/>
          </a:xfrm>
          <a:prstGeom prst="rect">
            <a:avLst>
              <a:gd name="adj" fmla="val 1887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645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🛰️ GIS Visual Capabilities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05840" y="214884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GIS Heatmap &amp; Radar Clustering
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kernel density clustering via Leaflet.heat highlighting high-intensity emergency zones and rescue corridors.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338328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Dual-Layer Satellite GIS (Esri)
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Esri World Imagery with street reference layers for high-resolution ground flood assessment.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461772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Pulsing Marker Pinning &amp; Route Tracking
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CSS keyframe divIcons (pulse-sos, pulse-target) and real-time turn-by-turn responder navigation.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371600"/>
            <a:ext cx="5212080" cy="4846320"/>
          </a:xfrm>
          <a:prstGeom prst="rect">
            <a:avLst>
              <a:gd name="adj" fmla="val 1887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1645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Engineering Mechanics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92240" y="2240280"/>
            <a:ext cx="502920" cy="411480"/>
          </a:xfrm>
          <a:prstGeom prst="rect">
            <a:avLst>
              <a:gd name="adj" fmla="val 11111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224028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132320" y="2240280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High-Accuracy Geolocation
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Navigator GPS with smart IP/Cell tower fallback to prevent timeouts in disaster zones.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92240" y="3474720"/>
            <a:ext cx="502920" cy="411480"/>
          </a:xfrm>
          <a:prstGeom prst="rect">
            <a:avLst>
              <a:gd name="adj" fmla="val 11111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347472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132320" y="3474720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2dsphere Spatial Querying
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$near and $maxDistance geospatial spherical index queries calculate nearest relief resources instantly.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92240" y="4709160"/>
            <a:ext cx="502920" cy="411480"/>
          </a:xfrm>
          <a:prstGeom prst="rect">
            <a:avLst>
              <a:gd name="adj" fmla="val 11111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0" y="470916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132320" y="4709160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Haversine Spherical Trigonometry
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Computes great-circle distance over Earth curvature to match donors with high-priority shelters.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ALLOCATION &amp; AUTOMATION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Algorithmic Resource Allocation Eliminates Shelter Starvation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5120640" cy="4846320"/>
          </a:xfrm>
          <a:prstGeom prst="rect">
            <a:avLst>
              <a:gd name="adj" fmla="val 1887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645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Dynamic Camp Inventory Ledger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05840" y="21488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Essential Humanitarian Categories: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246888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Drinking Water (L)   •   2. Packaged Rations (kg)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Medical Kits (units)   •   4. Baby Food (kg)   •   5. Blankets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3154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Auto-Decrement &amp; Restocking Pipeline: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347472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When NGO approves an aid delivery, camp warehouse stock is automatically decremented in real time.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When public donation is acknowledged, goods are automatically credited to camp inventory without manual data entry.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005840" y="46634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 Threshold Red Alerts: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498348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essential rations dip below 20% minimum buffer, automated red alerts are broadcast to response coordinators and donors.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17920" y="1371600"/>
            <a:ext cx="5212080" cy="4846320"/>
          </a:xfrm>
          <a:prstGeom prst="rect">
            <a:avLst>
              <a:gd name="adj" fmla="val 1887"/>
            </a:avLst>
          </a:prstGeom>
          <a:solidFill>
            <a:srgbClr val="EFF6FF"/>
          </a:solidFill>
          <a:ln w="19050">
            <a:solidFill>
              <a:srgbClr val="BFDB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1645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Smart Donation Allocation Algorithm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92240" y="2148840"/>
            <a:ext cx="466344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Disaster Paradox:
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catastrophic events, public donors overwhelm well-publicized urban centers while smaller, cutoff camps face acute shortages.
</a:t>
            </a:r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ReliefLink Routing Logic:
</a:t>
            </a:r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Ingests donor GPS coordinates via browser location.
2. Computes distance to all active camps via Haversine formula.
3. Calculates camp urgency ratio: (Capacity - Current Occupancy) + Critical Shortage Index.
4. Recommends highest-priority target camp with visual map focus and automated inventory allocation.
</a:t>
            </a:r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Zero supply waste and balanced regional resource distribution.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 &amp; SCHEMA OPTIMIZATION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Scalable NoSQL Data Models for High-Speed Telemetry</a:t>
            </a:r>
            <a:endParaRPr lang="en-US" sz="2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371600"/>
          <a:ext cx="10698480" cy="4754880"/>
        </p:xfrm>
        <a:graphic>
          <a:graphicData uri="http://schemas.openxmlformats.org/drawingml/2006/table">
            <a:tbl>
              <a:tblPr/>
              <a:tblGrid>
                <a:gridCol w="1737360"/>
                <a:gridCol w="4023360"/>
                <a:gridCol w="2286000"/>
                <a:gridCol w="2651760"/>
              </a:tblGrid>
              <a:tr h="6792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Collection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Schema Fields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Index Strategy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 in Emergency Pipeline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6792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name, phone, email, passwordHash, role, skills, vehicleType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 (phone/email), role index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Identity verification &amp; volunteer dispatch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92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SosRequests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userId, location (GeoJSON Point), priority, disasterType, status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2dsphere (location), status index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Sub-second search-and-rescue matching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6792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ReliefCamps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name, location, capacity, currentOccupancy, managedBy, facilities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2dsphere (location), managedBy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Shelter capacity management &amp; safe routing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92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Inventory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campId, itemName, category, quantity, unit, minThreshold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compound (campId, category)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 supply ledger &amp; automated stock alerts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6792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Donations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donorName, type (goods/monetary), amount, items, campId, status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campId, status, createdAt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Transparent aid tracking &amp; inventory credits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92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DisasterAlerts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title, severity, affectedAreas, issuedBy, expiresAt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TTL index (expiresAt)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Early warning radar &amp; weather notifications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ECOSYSTEM &amp; STACK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Modern, Resilient Full-Stack Technologies Built for Reliability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5212080" cy="228600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BFDB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55448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&amp; Visualization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" y="1965960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Framework: React 18 + Vite (Lightning HMR)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005840" y="2276856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GIS Mapping: Leaflet.js + React-Leaflet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005840" y="2587752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Satellite Tiles: Esri World Imagery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005840" y="2898648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Density Heatmaps: Leaflet.heat dynamic layer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005840" y="3209544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State Store: Zustand (1KB zero-boilerplate)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17920" y="1371600"/>
            <a:ext cx="5212080" cy="228600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A7F3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155448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&amp; Real-Time Engine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92240" y="1965960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Server Runtime: Node.js v18+ &amp; Express.js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492240" y="2276856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Real-Time Dispatch: Socket.io WebSockets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2587752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Push Engine: Web Push API (VAPID)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492240" y="2898648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Security: Helmet + Rate Limiter + Strict CORS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492240" y="3209544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Process Mgmt: Concurrently / Nodemon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31520" y="3840480"/>
            <a:ext cx="5212080" cy="228600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FDE6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5840" y="402336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Geospatial Layer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05840" y="4434840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Cloud Database: MongoDB Atlas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005840" y="4745736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ODM: Mongoose with strict schema validation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005840" y="5056632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Geospatial: GeoJSON Point + 2dsphere indexing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005840" y="5367528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Query Operators: $near, $geometry, $maxDistance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005840" y="5678424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Connection: DNS IPv4 auto-fallback resolver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217920" y="3840480"/>
            <a:ext cx="5212080" cy="228600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FECAC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92240" y="402336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Resilience &amp; Tooling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492240" y="4434840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Authentication: Stateless JWT + Phone OTP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492240" y="4745736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Weather API: OpenWeatherMap / IMD Radar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92240" y="5056632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Language i18n: English, Malayalam, Hindi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492240" y="5367528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Styling: Custom Responsive Glassmorphism CSS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492240" y="5678424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Mobile Support: Self-signed SSL for phone GPS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ROADMAP &amp; SYSTEM EVOLUTION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Enhancements &amp; Research Roadmap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10698480" cy="841248"/>
          </a:xfrm>
          <a:prstGeom prst="rect">
            <a:avLst>
              <a:gd name="adj" fmla="val 8696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50876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🤖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508760" y="15087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ML Demand Forecasting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508760" y="1783080"/>
            <a:ext cx="9601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machine learning models on meteorological flood history to predict camp inventory shortages 48 hours prior to landfall.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31520" y="2331720"/>
            <a:ext cx="10698480" cy="841248"/>
          </a:xfrm>
          <a:prstGeom prst="rect">
            <a:avLst>
              <a:gd name="adj" fmla="val 8696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46888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🚁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508760" y="24688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Drone Waypoint Dispatch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508760" y="2743200"/>
            <a:ext cx="9601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drone telemetry APIs to deliver urgent medical kits and clean drinking water packets to cutoff topological islands.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31520" y="3291840"/>
            <a:ext cx="10698480" cy="841248"/>
          </a:xfrm>
          <a:prstGeom prst="rect">
            <a:avLst>
              <a:gd name="adj" fmla="val 8696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42900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📶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508760" y="34290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Mesh SOS Relay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508760" y="3703320"/>
            <a:ext cx="9601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Bluetooth Low Energy (BLE) peer-to-peer mesh protocols allowing citizens to relay distress beacons without cellular towers.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31520" y="4251960"/>
            <a:ext cx="10698480" cy="841248"/>
          </a:xfrm>
          <a:prstGeom prst="rect">
            <a:avLst>
              <a:gd name="adj" fmla="val 8696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438912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🗣️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508760" y="43891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Trilingual Accessibility &amp; Voice AI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508760" y="4663440"/>
            <a:ext cx="9601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support to regional Indian dialects with AI speech-to-text allowing illiterate flood victims to speak their SOS distress call.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31520" y="5212080"/>
            <a:ext cx="10698480" cy="841248"/>
          </a:xfrm>
          <a:prstGeom prst="rect">
            <a:avLst>
              <a:gd name="adj" fmla="val 8696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534924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📱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508760" y="53492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High-Stress Low-Bandwidth PWA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508760" y="5623560"/>
            <a:ext cx="9601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Web App with Service Worker offline caching for flawless operation on 2G edge networks in devastated disaster zones.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ReliefLink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ReliefLink - Technical Presentation</dc:title>
  <dc:subject>PptxGenJS Presentation</dc:subject>
  <dc:creator>Vivek</dc:creator>
  <cp:lastModifiedBy>Vivek</cp:lastModifiedBy>
  <cp:revision>1</cp:revision>
  <dcterms:created xsi:type="dcterms:W3CDTF">2026-09-13T17:54:50Z</dcterms:created>
  <dcterms:modified xsi:type="dcterms:W3CDTF">2026-09-13T17:54:50Z</dcterms:modified>
</cp:coreProperties>
</file>