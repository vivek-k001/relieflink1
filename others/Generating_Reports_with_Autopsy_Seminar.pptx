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My name is Vivek, and today my seminar topic is 'Generating Reports with Autopsy'. I will explain what Autopsy is, the step-by-step workflow to prepare evidence, how to generate forensic reports, and the different formats available.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Autopsy is a free, open-source digital forensics tool. It provides a graphical interface over The Sleuth Kit. Instead of typing command-line commands, investigators can easily analyze disk images, recover deleted files, and package their findings into a final report.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generating a report, there are 4 preparation steps: 1. Launch Autopsy. 2. Create a new case and fill in examiner details, which are printed on the report headers. 3. Add the disk image, where Autopsy calculates SHA-256 hashes to guarantee evidence integrity. 4. Run Ingest Modules to carve deleted files and extract web activity.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Step 5, we click Report -&gt; Generate Report. We choose the report format and the scope: we can report everything, or only tagged items marked by the examiner. We tick the checkboxes for File Analysis, Timeline, Hash Database hits, and Deleted files. In Step 6, Autopsy automatically compiles and saves the report in the case directory's Reports folder.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Autopsy supports multiple report formats: HTML is the most popular because anyone can open it in a browser and click through files. PDF is great for formal reports and submissions with fixed page numbers. Excel is used when you have thousands of records to filter. And Text reports give a simple, lightweight summary.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Autopsy turns raw disk data into structured, professional reports in just a few clicks. By tagging evidence and selecting the right format, examiners can present clear and credible findings. Thank you for listening, and I am ready for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1097280"/>
            <a:ext cx="9997135" cy="466344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828800"/>
            <a:ext cx="8961120" cy="2926080"/>
          </a:xfrm>
          <a:prstGeom prst="rect">
            <a:avLst/>
          </a:prstGeom>
          <a:noFill/>
        </p:spPr>
        <p:txBody>
          <a:bodyPr wrap="square">
            <a:spAutoFit/>
          </a:bodyPr>
          <a:lstStyle/>
          <a:p>
            <a:pPr>
              <a:defRPr sz="4000" b="1">
                <a:solidFill>
                  <a:srgbClr val="F8FAFC"/>
                </a:solidFill>
              </a:defRPr>
            </a:pPr>
            <a:r>
              <a:t>Generating Reports with Autopsy</a:t>
            </a:r>
          </a:p>
          <a:p>
            <a:pPr>
              <a:spcBef>
                <a:spcPts val="1400"/>
              </a:spcBef>
              <a:defRPr sz="2200">
                <a:solidFill>
                  <a:srgbClr val="38BDF8"/>
                </a:solidFill>
              </a:defRPr>
            </a:pPr>
            <a:r>
              <a:t>Digital Forensics Seminar Presentation</a:t>
            </a:r>
          </a:p>
          <a:p>
            <a:pPr>
              <a:spcBef>
                <a:spcPts val="3800"/>
              </a:spcBef>
              <a:defRPr sz="1800" b="1">
                <a:solidFill>
                  <a:srgbClr val="F8FAFC"/>
                </a:solidFill>
              </a:defRPr>
            </a:pPr>
            <a:r>
              <a:t>Presented by: Vivek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02920"/>
            <a:ext cx="9144000" cy="777240"/>
          </a:xfrm>
          <a:prstGeom prst="rect">
            <a:avLst/>
          </a:prstGeom>
          <a:noFill/>
        </p:spPr>
        <p:txBody>
          <a:bodyPr wrap="square">
            <a:spAutoFit/>
          </a:bodyPr>
          <a:lstStyle/>
          <a:p>
            <a:pPr>
              <a:defRPr sz="2800" b="1">
                <a:solidFill>
                  <a:srgbClr val="38BDF8"/>
                </a:solidFill>
                <a:latin typeface="Calibri"/>
              </a:defRPr>
            </a:pPr>
            <a:r>
              <a:t>1. What is Autopsy?</a:t>
            </a:r>
          </a:p>
        </p:txBody>
      </p:sp>
      <p:sp>
        <p:nvSpPr>
          <p:cNvPr id="4" name="TextBox 3"/>
          <p:cNvSpPr txBox="1"/>
          <p:nvPr/>
        </p:nvSpPr>
        <p:spPr>
          <a:xfrm>
            <a:off x="10241280" y="502920"/>
            <a:ext cx="1097280" cy="457200"/>
          </a:xfrm>
          <a:prstGeom prst="rect">
            <a:avLst/>
          </a:prstGeom>
          <a:noFill/>
        </p:spPr>
        <p:txBody>
          <a:bodyPr wrap="none">
            <a:spAutoFit/>
          </a:bodyPr>
          <a:lstStyle/>
          <a:p>
            <a:pPr algn="r">
              <a:defRPr sz="1400" b="1">
                <a:solidFill>
                  <a:srgbClr val="94A3B8"/>
                </a:solidFill>
              </a:defRPr>
            </a:pPr>
            <a:r>
              <a:t>2 / 6</a:t>
            </a:r>
          </a:p>
        </p:txBody>
      </p:sp>
      <p:sp>
        <p:nvSpPr>
          <p:cNvPr id="5" name="Rounded Rectangle 4"/>
          <p:cNvSpPr/>
          <p:nvPr/>
        </p:nvSpPr>
        <p:spPr>
          <a:xfrm>
            <a:off x="914400" y="1554480"/>
            <a:ext cx="4937760" cy="457200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783080"/>
            <a:ext cx="4389120" cy="4114800"/>
          </a:xfrm>
          <a:prstGeom prst="rect">
            <a:avLst/>
          </a:prstGeom>
          <a:noFill/>
        </p:spPr>
        <p:txBody>
          <a:bodyPr wrap="square">
            <a:spAutoFit/>
          </a:bodyPr>
          <a:lstStyle/>
          <a:p>
            <a:pPr>
              <a:defRPr sz="2000" b="1">
                <a:solidFill>
                  <a:srgbClr val="38BDF8"/>
                </a:solidFill>
              </a:defRPr>
            </a:pPr>
            <a:r>
              <a:t>What is Autopsy?</a:t>
            </a:r>
          </a:p>
          <a:p>
            <a:pPr>
              <a:spcBef>
                <a:spcPts val="1200"/>
              </a:spcBef>
              <a:defRPr sz="1300">
                <a:solidFill>
                  <a:srgbClr val="CBD5E1"/>
                </a:solidFill>
              </a:defRPr>
            </a:pPr>
            <a:r>
              <a:t>• A premier open-source digital forensics platform.</a:t>
            </a:r>
          </a:p>
          <a:p>
            <a:pPr>
              <a:spcBef>
                <a:spcPts val="1200"/>
              </a:spcBef>
              <a:defRPr sz="1300">
                <a:solidFill>
                  <a:srgbClr val="CBD5E1"/>
                </a:solidFill>
              </a:defRPr>
            </a:pPr>
            <a:r>
              <a:t>• Graphical user interface (GUI) for The Sleuth Kit (TSK).</a:t>
            </a:r>
          </a:p>
          <a:p>
            <a:pPr>
              <a:spcBef>
                <a:spcPts val="1200"/>
              </a:spcBef>
              <a:defRPr sz="1300">
                <a:solidFill>
                  <a:srgbClr val="CBD5E1"/>
                </a:solidFill>
              </a:defRPr>
            </a:pPr>
            <a:r>
              <a:t>• Used worldwide by law enforcement, DFIR, and cyber teams.</a:t>
            </a:r>
          </a:p>
          <a:p>
            <a:pPr>
              <a:spcBef>
                <a:spcPts val="1200"/>
              </a:spcBef>
              <a:defRPr sz="1300">
                <a:solidFill>
                  <a:srgbClr val="CBD5E1"/>
                </a:solidFill>
              </a:defRPr>
            </a:pPr>
            <a:r>
              <a:t>• Fast, user-friendly, and completely free.</a:t>
            </a:r>
          </a:p>
        </p:txBody>
      </p:sp>
      <p:sp>
        <p:nvSpPr>
          <p:cNvPr id="7" name="Rounded Rectangle 6"/>
          <p:cNvSpPr/>
          <p:nvPr/>
        </p:nvSpPr>
        <p:spPr>
          <a:xfrm>
            <a:off x="6217920" y="1554480"/>
            <a:ext cx="5029200" cy="457200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783080"/>
            <a:ext cx="4480560" cy="4114800"/>
          </a:xfrm>
          <a:prstGeom prst="rect">
            <a:avLst/>
          </a:prstGeom>
          <a:noFill/>
        </p:spPr>
        <p:txBody>
          <a:bodyPr wrap="square">
            <a:spAutoFit/>
          </a:bodyPr>
          <a:lstStyle/>
          <a:p>
            <a:pPr>
              <a:defRPr sz="2000" b="1">
                <a:solidFill>
                  <a:srgbClr val="34D399"/>
                </a:solidFill>
              </a:defRPr>
            </a:pPr>
            <a:r>
              <a:t>Core Capabilities</a:t>
            </a:r>
          </a:p>
          <a:p>
            <a:pPr>
              <a:spcBef>
                <a:spcPts val="1200"/>
              </a:spcBef>
              <a:defRPr sz="1300">
                <a:solidFill>
                  <a:srgbClr val="CBD5E1"/>
                </a:solidFill>
              </a:defRPr>
            </a:pPr>
            <a:r>
              <a:t>• Analyses forensic disk images (.dd, .raw, .E01 files).</a:t>
            </a:r>
          </a:p>
          <a:p>
            <a:pPr>
              <a:spcBef>
                <a:spcPts val="1200"/>
              </a:spcBef>
              <a:defRPr sz="1300">
                <a:solidFill>
                  <a:srgbClr val="CBD5E1"/>
                </a:solidFill>
              </a:defRPr>
            </a:pPr>
            <a:r>
              <a:t>• Recovers deleted files and carves unallocated space.</a:t>
            </a:r>
          </a:p>
          <a:p>
            <a:pPr>
              <a:spcBef>
                <a:spcPts val="1200"/>
              </a:spcBef>
              <a:defRPr sz="1300">
                <a:solidFill>
                  <a:srgbClr val="CBD5E1"/>
                </a:solidFill>
              </a:defRPr>
            </a:pPr>
            <a:r>
              <a:t>• Extracts web history, downloads, cookies, and registry.</a:t>
            </a:r>
          </a:p>
          <a:p>
            <a:pPr>
              <a:spcBef>
                <a:spcPts val="1200"/>
              </a:spcBef>
              <a:defRPr sz="1300">
                <a:solidFill>
                  <a:srgbClr val="CBD5E1"/>
                </a:solidFill>
              </a:defRPr>
            </a:pPr>
            <a:r>
              <a:t>• Generates clean, standardized forensic reports.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02920"/>
            <a:ext cx="9144000" cy="777240"/>
          </a:xfrm>
          <a:prstGeom prst="rect">
            <a:avLst/>
          </a:prstGeom>
          <a:noFill/>
        </p:spPr>
        <p:txBody>
          <a:bodyPr wrap="square">
            <a:spAutoFit/>
          </a:bodyPr>
          <a:lstStyle/>
          <a:p>
            <a:pPr>
              <a:defRPr sz="2800" b="1">
                <a:solidFill>
                  <a:srgbClr val="38BDF8"/>
                </a:solidFill>
                <a:latin typeface="Calibri"/>
              </a:defRPr>
            </a:pPr>
            <a:r>
              <a:t>2. Steps to Prepare Evidence</a:t>
            </a:r>
          </a:p>
        </p:txBody>
      </p:sp>
      <p:sp>
        <p:nvSpPr>
          <p:cNvPr id="4" name="TextBox 3"/>
          <p:cNvSpPr txBox="1"/>
          <p:nvPr/>
        </p:nvSpPr>
        <p:spPr>
          <a:xfrm>
            <a:off x="10241280" y="502920"/>
            <a:ext cx="1097280" cy="457200"/>
          </a:xfrm>
          <a:prstGeom prst="rect">
            <a:avLst/>
          </a:prstGeom>
          <a:noFill/>
        </p:spPr>
        <p:txBody>
          <a:bodyPr wrap="none">
            <a:spAutoFit/>
          </a:bodyPr>
          <a:lstStyle/>
          <a:p>
            <a:pPr algn="r">
              <a:defRPr sz="1400" b="1">
                <a:solidFill>
                  <a:srgbClr val="94A3B8"/>
                </a:solidFill>
              </a:defRPr>
            </a:pPr>
            <a:r>
              <a:t>3 / 6</a:t>
            </a:r>
          </a:p>
        </p:txBody>
      </p:sp>
      <p:sp>
        <p:nvSpPr>
          <p:cNvPr id="5" name="Rounded Rectangle 4"/>
          <p:cNvSpPr/>
          <p:nvPr/>
        </p:nvSpPr>
        <p:spPr>
          <a:xfrm>
            <a:off x="914400" y="1554480"/>
            <a:ext cx="10332720" cy="1024128"/>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664208"/>
            <a:ext cx="9784080" cy="777240"/>
          </a:xfrm>
          <a:prstGeom prst="rect">
            <a:avLst/>
          </a:prstGeom>
          <a:noFill/>
        </p:spPr>
        <p:txBody>
          <a:bodyPr wrap="square">
            <a:spAutoFit/>
          </a:bodyPr>
          <a:lstStyle/>
          <a:p>
            <a:pPr>
              <a:defRPr sz="1600" b="1">
                <a:solidFill>
                  <a:srgbClr val="38BDF8"/>
                </a:solidFill>
              </a:defRPr>
            </a:pPr>
            <a:r>
              <a:t>Step 1: Install &amp; Launch Autopsy</a:t>
            </a:r>
          </a:p>
          <a:p>
            <a:pPr>
              <a:spcBef>
                <a:spcPts val="300"/>
              </a:spcBef>
              <a:defRPr sz="1200">
                <a:solidFill>
                  <a:srgbClr val="CBD5E1"/>
                </a:solidFill>
              </a:defRPr>
            </a:pPr>
            <a:r>
              <a:t>Open Autopsy on an isolated forensic workstation with write-blocker protection.</a:t>
            </a:r>
          </a:p>
        </p:txBody>
      </p:sp>
      <p:sp>
        <p:nvSpPr>
          <p:cNvPr id="7" name="Rounded Rectangle 6"/>
          <p:cNvSpPr/>
          <p:nvPr/>
        </p:nvSpPr>
        <p:spPr>
          <a:xfrm>
            <a:off x="914400" y="2724912"/>
            <a:ext cx="10332720" cy="1024128"/>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2834640"/>
            <a:ext cx="9784080" cy="777240"/>
          </a:xfrm>
          <a:prstGeom prst="rect">
            <a:avLst/>
          </a:prstGeom>
          <a:noFill/>
        </p:spPr>
        <p:txBody>
          <a:bodyPr wrap="square">
            <a:spAutoFit/>
          </a:bodyPr>
          <a:lstStyle/>
          <a:p>
            <a:pPr>
              <a:defRPr sz="1600" b="1">
                <a:solidFill>
                  <a:srgbClr val="34D399"/>
                </a:solidFill>
              </a:defRPr>
            </a:pPr>
            <a:r>
              <a:t>Step 2: Create a New Case</a:t>
            </a:r>
          </a:p>
          <a:p>
            <a:pPr>
              <a:spcBef>
                <a:spcPts val="300"/>
              </a:spcBef>
              <a:defRPr sz="1200">
                <a:solidFill>
                  <a:srgbClr val="CBD5E1"/>
                </a:solidFill>
              </a:defRPr>
            </a:pPr>
            <a:r>
              <a:t>Enter Case Name, path, and Examiner Details (name, phone, notes) for audit records.</a:t>
            </a:r>
          </a:p>
        </p:txBody>
      </p:sp>
      <p:sp>
        <p:nvSpPr>
          <p:cNvPr id="9" name="Rounded Rectangle 8"/>
          <p:cNvSpPr/>
          <p:nvPr/>
        </p:nvSpPr>
        <p:spPr>
          <a:xfrm>
            <a:off x="914400" y="3895344"/>
            <a:ext cx="10332720" cy="1024128"/>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4005072"/>
            <a:ext cx="9784080" cy="777240"/>
          </a:xfrm>
          <a:prstGeom prst="rect">
            <a:avLst/>
          </a:prstGeom>
          <a:noFill/>
        </p:spPr>
        <p:txBody>
          <a:bodyPr wrap="square">
            <a:spAutoFit/>
          </a:bodyPr>
          <a:lstStyle/>
          <a:p>
            <a:pPr>
              <a:defRPr sz="1600" b="1">
                <a:solidFill>
                  <a:srgbClr val="38BDF8"/>
                </a:solidFill>
              </a:defRPr>
            </a:pPr>
            <a:r>
              <a:t>Step 3: Add Data Source</a:t>
            </a:r>
          </a:p>
          <a:p>
            <a:pPr>
              <a:spcBef>
                <a:spcPts val="300"/>
              </a:spcBef>
              <a:defRPr sz="1200">
                <a:solidFill>
                  <a:srgbClr val="CBD5E1"/>
                </a:solidFill>
              </a:defRPr>
            </a:pPr>
            <a:r>
              <a:t>Import the disk image (.dd, .E01). Autopsy computes MD5/SHA-256 hashes to ensure integrity.</a:t>
            </a:r>
          </a:p>
        </p:txBody>
      </p:sp>
      <p:sp>
        <p:nvSpPr>
          <p:cNvPr id="11" name="Rounded Rectangle 10"/>
          <p:cNvSpPr/>
          <p:nvPr/>
        </p:nvSpPr>
        <p:spPr>
          <a:xfrm>
            <a:off x="914400" y="5065776"/>
            <a:ext cx="10332720" cy="1024128"/>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5175504"/>
            <a:ext cx="9784080" cy="777240"/>
          </a:xfrm>
          <a:prstGeom prst="rect">
            <a:avLst/>
          </a:prstGeom>
          <a:noFill/>
        </p:spPr>
        <p:txBody>
          <a:bodyPr wrap="square">
            <a:spAutoFit/>
          </a:bodyPr>
          <a:lstStyle/>
          <a:p>
            <a:pPr>
              <a:defRPr sz="1600" b="1">
                <a:solidFill>
                  <a:srgbClr val="34D399"/>
                </a:solidFill>
              </a:defRPr>
            </a:pPr>
            <a:r>
              <a:t>Step 4: Analyze Evidence (Ingest Modules)</a:t>
            </a:r>
          </a:p>
          <a:p>
            <a:pPr>
              <a:spcBef>
                <a:spcPts val="300"/>
              </a:spcBef>
              <a:defRPr sz="1200">
                <a:solidFill>
                  <a:srgbClr val="CBD5E1"/>
                </a:solidFill>
              </a:defRPr>
            </a:pPr>
            <a:r>
              <a:t>Run Keyword Search, Timeline, Hash Database (NSRL), and Deleted File Carving.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02920"/>
            <a:ext cx="9144000" cy="777240"/>
          </a:xfrm>
          <a:prstGeom prst="rect">
            <a:avLst/>
          </a:prstGeom>
          <a:noFill/>
        </p:spPr>
        <p:txBody>
          <a:bodyPr wrap="square">
            <a:spAutoFit/>
          </a:bodyPr>
          <a:lstStyle/>
          <a:p>
            <a:pPr>
              <a:defRPr sz="2800" b="1">
                <a:solidFill>
                  <a:srgbClr val="38BDF8"/>
                </a:solidFill>
                <a:latin typeface="Calibri"/>
              </a:defRPr>
            </a:pPr>
            <a:r>
              <a:t>3. Generating the Report (Steps 5 &amp; 6)</a:t>
            </a:r>
          </a:p>
        </p:txBody>
      </p:sp>
      <p:sp>
        <p:nvSpPr>
          <p:cNvPr id="4" name="TextBox 3"/>
          <p:cNvSpPr txBox="1"/>
          <p:nvPr/>
        </p:nvSpPr>
        <p:spPr>
          <a:xfrm>
            <a:off x="10241280" y="502920"/>
            <a:ext cx="1097280" cy="457200"/>
          </a:xfrm>
          <a:prstGeom prst="rect">
            <a:avLst/>
          </a:prstGeom>
          <a:noFill/>
        </p:spPr>
        <p:txBody>
          <a:bodyPr wrap="none">
            <a:spAutoFit/>
          </a:bodyPr>
          <a:lstStyle/>
          <a:p>
            <a:pPr algn="r">
              <a:defRPr sz="1400" b="1">
                <a:solidFill>
                  <a:srgbClr val="94A3B8"/>
                </a:solidFill>
              </a:defRPr>
            </a:pPr>
            <a:r>
              <a:t>4 / 6</a:t>
            </a:r>
          </a:p>
        </p:txBody>
      </p:sp>
      <p:sp>
        <p:nvSpPr>
          <p:cNvPr id="5" name="Rounded Rectangle 4"/>
          <p:cNvSpPr/>
          <p:nvPr/>
        </p:nvSpPr>
        <p:spPr>
          <a:xfrm>
            <a:off x="914400" y="1554480"/>
            <a:ext cx="4937760" cy="457200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783080"/>
            <a:ext cx="4389120" cy="4114800"/>
          </a:xfrm>
          <a:prstGeom prst="rect">
            <a:avLst/>
          </a:prstGeom>
          <a:noFill/>
        </p:spPr>
        <p:txBody>
          <a:bodyPr wrap="square">
            <a:spAutoFit/>
          </a:bodyPr>
          <a:lstStyle/>
          <a:p>
            <a:pPr>
              <a:defRPr sz="2000" b="1">
                <a:solidFill>
                  <a:srgbClr val="38BDF8"/>
                </a:solidFill>
              </a:defRPr>
            </a:pPr>
            <a:r>
              <a:t>How to Generate</a:t>
            </a:r>
          </a:p>
          <a:p>
            <a:pPr>
              <a:spcBef>
                <a:spcPts val="1000"/>
              </a:spcBef>
            </a:pPr>
            <a:r>
              <a:rPr b="1" sz="1300">
                <a:solidFill>
                  <a:srgbClr val="F8FAFC"/>
                </a:solidFill>
              </a:rPr>
              <a:t>Step 5: Open Report Wizard
</a:t>
            </a:r>
            <a:r>
              <a:rPr sz="1150">
                <a:solidFill>
                  <a:srgbClr val="CBD5E1"/>
                </a:solidFill>
              </a:rPr>
              <a:t>Click: Report ➔ Generate Report (or toolbar icon).</a:t>
            </a:r>
          </a:p>
          <a:p>
            <a:pPr>
              <a:spcBef>
                <a:spcPts val="1000"/>
              </a:spcBef>
            </a:pPr>
            <a:r>
              <a:rPr b="1" sz="1300">
                <a:solidFill>
                  <a:srgbClr val="F8FAFC"/>
                </a:solidFill>
              </a:rPr>
              <a:t>Select Format &amp; Scope:
</a:t>
            </a:r>
            <a:r>
              <a:rPr sz="1150">
                <a:solidFill>
                  <a:srgbClr val="CBD5E1"/>
                </a:solidFill>
              </a:rPr>
              <a:t>Choose HTML, PDF, or Excel. Pick 'All Results' or 'Tagged Results Only' to filter noise.</a:t>
            </a:r>
          </a:p>
          <a:p>
            <a:pPr>
              <a:spcBef>
                <a:spcPts val="1000"/>
              </a:spcBef>
            </a:pPr>
            <a:r>
              <a:rPr b="1" sz="1300">
                <a:solidFill>
                  <a:srgbClr val="F8FAFC"/>
                </a:solidFill>
              </a:rPr>
              <a:t>Step 6: Save and Review
</a:t>
            </a:r>
            <a:r>
              <a:rPr sz="1150">
                <a:solidFill>
                  <a:srgbClr val="CBD5E1"/>
                </a:solidFill>
              </a:rPr>
              <a:t>Autopsy saves reports in `&lt;Case_Folder&gt;\Reports\`.
Review findings and timestamps for completeness.</a:t>
            </a:r>
          </a:p>
        </p:txBody>
      </p:sp>
      <p:sp>
        <p:nvSpPr>
          <p:cNvPr id="7" name="Rounded Rectangle 6"/>
          <p:cNvSpPr/>
          <p:nvPr/>
        </p:nvSpPr>
        <p:spPr>
          <a:xfrm>
            <a:off x="6217920" y="1554480"/>
            <a:ext cx="5029200" cy="457200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783080"/>
            <a:ext cx="4480560" cy="4114800"/>
          </a:xfrm>
          <a:prstGeom prst="rect">
            <a:avLst/>
          </a:prstGeom>
          <a:noFill/>
        </p:spPr>
        <p:txBody>
          <a:bodyPr wrap="square">
            <a:spAutoFit/>
          </a:bodyPr>
          <a:lstStyle/>
          <a:p>
            <a:pPr>
              <a:defRPr sz="2000" b="1">
                <a:solidFill>
                  <a:srgbClr val="34D399"/>
                </a:solidFill>
              </a:defRPr>
            </a:pPr>
            <a:r>
              <a:t>Sections You Can Include</a:t>
            </a:r>
          </a:p>
          <a:p>
            <a:pPr>
              <a:spcBef>
                <a:spcPts val="600"/>
              </a:spcBef>
            </a:pPr>
            <a:r>
              <a:rPr b="1" sz="1250">
                <a:solidFill>
                  <a:srgbClr val="F8FAFC"/>
                </a:solidFill>
              </a:rPr>
              <a:t>☑ File Analysis
</a:t>
            </a:r>
            <a:r>
              <a:rPr sz="1100">
                <a:solidFill>
                  <a:srgbClr val="CBD5E1"/>
                </a:solidFill>
              </a:rPr>
              <a:t>    Shows file types, sizes, and directory locations.</a:t>
            </a:r>
          </a:p>
          <a:p>
            <a:pPr>
              <a:spcBef>
                <a:spcPts val="600"/>
              </a:spcBef>
            </a:pPr>
            <a:r>
              <a:rPr b="1" sz="1250">
                <a:solidFill>
                  <a:srgbClr val="F8FAFC"/>
                </a:solidFill>
              </a:rPr>
              <a:t>☑ Timeline
</a:t>
            </a:r>
            <a:r>
              <a:rPr sz="1100">
                <a:solidFill>
                  <a:srgbClr val="CBD5E1"/>
                </a:solidFill>
              </a:rPr>
              <a:t>    Chronological order of file events (MACB timestamps).</a:t>
            </a:r>
          </a:p>
          <a:p>
            <a:pPr>
              <a:spcBef>
                <a:spcPts val="600"/>
              </a:spcBef>
            </a:pPr>
            <a:r>
              <a:rPr b="1" sz="1250">
                <a:solidFill>
                  <a:srgbClr val="F8FAFC"/>
                </a:solidFill>
              </a:rPr>
              <a:t>☑ Hash Database
</a:t>
            </a:r>
            <a:r>
              <a:rPr sz="1100">
                <a:solidFill>
                  <a:srgbClr val="CBD5E1"/>
                </a:solidFill>
              </a:rPr>
              <a:t>    Highlights known malware or contraband matches.</a:t>
            </a:r>
          </a:p>
          <a:p>
            <a:pPr>
              <a:spcBef>
                <a:spcPts val="600"/>
              </a:spcBef>
            </a:pPr>
            <a:r>
              <a:rPr b="1" sz="1250">
                <a:solidFill>
                  <a:srgbClr val="F8FAFC"/>
                </a:solidFill>
              </a:rPr>
              <a:t>☑ Deleted Files
</a:t>
            </a:r>
            <a:r>
              <a:rPr sz="1100">
                <a:solidFill>
                  <a:srgbClr val="CBD5E1"/>
                </a:solidFill>
              </a:rPr>
              <a:t>    Lists carved documents recovered from unallocated space.</a:t>
            </a:r>
          </a:p>
          <a:p>
            <a:pPr>
              <a:spcBef>
                <a:spcPts val="600"/>
              </a:spcBef>
            </a:pPr>
            <a:r>
              <a:rPr b="1" sz="1250">
                <a:solidFill>
                  <a:srgbClr val="F8FAFC"/>
                </a:solidFill>
              </a:rPr>
              <a:t>☑ Web Artifacts
</a:t>
            </a:r>
            <a:r>
              <a:rPr sz="1100">
                <a:solidFill>
                  <a:srgbClr val="CBD5E1"/>
                </a:solidFill>
              </a:rPr>
              <a:t>    Browser history, downloads, cookies, and bookmarks.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02920"/>
            <a:ext cx="9144000" cy="777240"/>
          </a:xfrm>
          <a:prstGeom prst="rect">
            <a:avLst/>
          </a:prstGeom>
          <a:noFill/>
        </p:spPr>
        <p:txBody>
          <a:bodyPr wrap="square">
            <a:spAutoFit/>
          </a:bodyPr>
          <a:lstStyle/>
          <a:p>
            <a:pPr>
              <a:defRPr sz="2800" b="1">
                <a:solidFill>
                  <a:srgbClr val="38BDF8"/>
                </a:solidFill>
                <a:latin typeface="Calibri"/>
              </a:defRPr>
            </a:pPr>
            <a:r>
              <a:t>4. Common Report Formats</a:t>
            </a:r>
          </a:p>
        </p:txBody>
      </p:sp>
      <p:sp>
        <p:nvSpPr>
          <p:cNvPr id="4" name="TextBox 3"/>
          <p:cNvSpPr txBox="1"/>
          <p:nvPr/>
        </p:nvSpPr>
        <p:spPr>
          <a:xfrm>
            <a:off x="10241280" y="502920"/>
            <a:ext cx="1097280" cy="457200"/>
          </a:xfrm>
          <a:prstGeom prst="rect">
            <a:avLst/>
          </a:prstGeom>
          <a:noFill/>
        </p:spPr>
        <p:txBody>
          <a:bodyPr wrap="none">
            <a:spAutoFit/>
          </a:bodyPr>
          <a:lstStyle/>
          <a:p>
            <a:pPr algn="r">
              <a:defRPr sz="1400" b="1">
                <a:solidFill>
                  <a:srgbClr val="94A3B8"/>
                </a:solidFill>
              </a:defRPr>
            </a:pPr>
            <a:r>
              <a:t>5 / 6</a:t>
            </a:r>
          </a:p>
        </p:txBody>
      </p:sp>
      <p:sp>
        <p:nvSpPr>
          <p:cNvPr id="5" name="Rounded Rectangle 4"/>
          <p:cNvSpPr/>
          <p:nvPr/>
        </p:nvSpPr>
        <p:spPr>
          <a:xfrm>
            <a:off x="914400" y="1554480"/>
            <a:ext cx="5029200" cy="21945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664208"/>
            <a:ext cx="4663440" cy="1965960"/>
          </a:xfrm>
          <a:prstGeom prst="rect">
            <a:avLst/>
          </a:prstGeom>
          <a:noFill/>
        </p:spPr>
        <p:txBody>
          <a:bodyPr wrap="square">
            <a:spAutoFit/>
          </a:bodyPr>
          <a:lstStyle/>
          <a:p>
            <a:pPr>
              <a:defRPr sz="1600" b="1">
                <a:solidFill>
                  <a:srgbClr val="38BDF8"/>
                </a:solidFill>
              </a:defRPr>
            </a:pPr>
            <a:r>
              <a:t>HTML Report</a:t>
            </a:r>
          </a:p>
          <a:p>
            <a:pPr>
              <a:defRPr sz="1050">
                <a:solidFill>
                  <a:srgbClr val="94A3B8"/>
                </a:solidFill>
              </a:defRPr>
            </a:pPr>
            <a:r>
              <a:t>Most Popular &amp; Interactive</a:t>
            </a:r>
          </a:p>
          <a:p>
            <a:pPr>
              <a:spcBef>
                <a:spcPts val="300"/>
              </a:spcBef>
              <a:defRPr sz="1100">
                <a:solidFill>
                  <a:srgbClr val="CBD5E1"/>
                </a:solidFill>
              </a:defRPr>
            </a:pPr>
            <a:r>
              <a:t>• Opens in any web browser (Chrome, Edge).</a:t>
            </a:r>
            <a:br/>
            <a:r>
              <a:t>• Has a clickable navigation tree on the left.</a:t>
            </a:r>
            <a:br/>
            <a:r>
              <a:t>• Click to preview recovered photos, emails, and files.</a:t>
            </a:r>
            <a:br/>
            <a:r>
              <a:t>• Best for: Sharing with teachers, lawyers, or clients.</a:t>
            </a:r>
          </a:p>
        </p:txBody>
      </p:sp>
      <p:sp>
        <p:nvSpPr>
          <p:cNvPr id="7" name="Rounded Rectangle 6"/>
          <p:cNvSpPr/>
          <p:nvPr/>
        </p:nvSpPr>
        <p:spPr>
          <a:xfrm>
            <a:off x="6217920" y="1554480"/>
            <a:ext cx="5029200" cy="219456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64208"/>
            <a:ext cx="4663440" cy="1965960"/>
          </a:xfrm>
          <a:prstGeom prst="rect">
            <a:avLst/>
          </a:prstGeom>
          <a:noFill/>
        </p:spPr>
        <p:txBody>
          <a:bodyPr wrap="square">
            <a:spAutoFit/>
          </a:bodyPr>
          <a:lstStyle/>
          <a:p>
            <a:pPr>
              <a:defRPr sz="1600" b="1">
                <a:solidFill>
                  <a:srgbClr val="34D399"/>
                </a:solidFill>
              </a:defRPr>
            </a:pPr>
            <a:r>
              <a:t>PDF Report</a:t>
            </a:r>
          </a:p>
          <a:p>
            <a:pPr>
              <a:defRPr sz="1050">
                <a:solidFill>
                  <a:srgbClr val="94A3B8"/>
                </a:solidFill>
              </a:defRPr>
            </a:pPr>
            <a:r>
              <a:t>Formal &amp; Printable</a:t>
            </a:r>
          </a:p>
          <a:p>
            <a:pPr>
              <a:spcBef>
                <a:spcPts val="300"/>
              </a:spcBef>
              <a:defRPr sz="1100">
                <a:solidFill>
                  <a:srgbClr val="CBD5E1"/>
                </a:solidFill>
              </a:defRPr>
            </a:pPr>
            <a:r>
              <a:t>• Clean, paginated document format.</a:t>
            </a:r>
            <a:br/>
            <a:r>
              <a:t>• Includes case metadata, examiner details, and hashes.</a:t>
            </a:r>
            <a:br/>
            <a:r>
              <a:t>• Best for: Official submissions, grading, and court filings.</a:t>
            </a:r>
          </a:p>
        </p:txBody>
      </p:sp>
      <p:sp>
        <p:nvSpPr>
          <p:cNvPr id="9" name="Rounded Rectangle 8"/>
          <p:cNvSpPr/>
          <p:nvPr/>
        </p:nvSpPr>
        <p:spPr>
          <a:xfrm>
            <a:off x="914400" y="3886200"/>
            <a:ext cx="5029200" cy="21945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995928"/>
            <a:ext cx="4663440" cy="1965960"/>
          </a:xfrm>
          <a:prstGeom prst="rect">
            <a:avLst/>
          </a:prstGeom>
          <a:noFill/>
        </p:spPr>
        <p:txBody>
          <a:bodyPr wrap="square">
            <a:spAutoFit/>
          </a:bodyPr>
          <a:lstStyle/>
          <a:p>
            <a:pPr>
              <a:defRPr sz="1600" b="1">
                <a:solidFill>
                  <a:srgbClr val="38BDF8"/>
                </a:solidFill>
              </a:defRPr>
            </a:pPr>
            <a:r>
              <a:t>Excel / CSV</a:t>
            </a:r>
          </a:p>
          <a:p>
            <a:pPr>
              <a:defRPr sz="1050">
                <a:solidFill>
                  <a:srgbClr val="94A3B8"/>
                </a:solidFill>
              </a:defRPr>
            </a:pPr>
            <a:r>
              <a:t>Best for Data Analysis</a:t>
            </a:r>
          </a:p>
          <a:p>
            <a:pPr>
              <a:spcBef>
                <a:spcPts val="300"/>
              </a:spcBef>
              <a:defRPr sz="1100">
                <a:solidFill>
                  <a:srgbClr val="CBD5E1"/>
                </a:solidFill>
              </a:defRPr>
            </a:pPr>
            <a:r>
              <a:t>• Structured spreadsheet format with rows and columns.</a:t>
            </a:r>
            <a:br/>
            <a:r>
              <a:t>• Great for filtering thousands of web URLs and log entries.</a:t>
            </a:r>
            <a:br/>
            <a:r>
              <a:t>• Best for: Technical analysts and deep investigation.</a:t>
            </a:r>
          </a:p>
        </p:txBody>
      </p:sp>
      <p:sp>
        <p:nvSpPr>
          <p:cNvPr id="11" name="Rounded Rectangle 10"/>
          <p:cNvSpPr/>
          <p:nvPr/>
        </p:nvSpPr>
        <p:spPr>
          <a:xfrm>
            <a:off x="6217920" y="3886200"/>
            <a:ext cx="5029200" cy="219456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3995928"/>
            <a:ext cx="4663440" cy="1965960"/>
          </a:xfrm>
          <a:prstGeom prst="rect">
            <a:avLst/>
          </a:prstGeom>
          <a:noFill/>
        </p:spPr>
        <p:txBody>
          <a:bodyPr wrap="square">
            <a:spAutoFit/>
          </a:bodyPr>
          <a:lstStyle/>
          <a:p>
            <a:pPr>
              <a:defRPr sz="1600" b="1">
                <a:solidFill>
                  <a:srgbClr val="34D399"/>
                </a:solidFill>
              </a:defRPr>
            </a:pPr>
            <a:r>
              <a:t>Text Report</a:t>
            </a:r>
          </a:p>
          <a:p>
            <a:pPr>
              <a:defRPr sz="1050">
                <a:solidFill>
                  <a:srgbClr val="94A3B8"/>
                </a:solidFill>
              </a:defRPr>
            </a:pPr>
            <a:r>
              <a:t>Lightweight Summary</a:t>
            </a:r>
          </a:p>
          <a:p>
            <a:pPr>
              <a:spcBef>
                <a:spcPts val="300"/>
              </a:spcBef>
              <a:defRPr sz="1100">
                <a:solidFill>
                  <a:srgbClr val="CBD5E1"/>
                </a:solidFill>
              </a:defRPr>
            </a:pPr>
            <a:r>
              <a:t>• Fast, plain-text summary of the case findings.</a:t>
            </a:r>
            <a:br/>
            <a:r>
              <a:t>• Minimal file size, easy to open on any terminal or device.</a:t>
            </a:r>
            <a:br/>
            <a:r>
              <a:t>• Best for: Quick executive overviews.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02920"/>
            <a:ext cx="9144000" cy="777240"/>
          </a:xfrm>
          <a:prstGeom prst="rect">
            <a:avLst/>
          </a:prstGeom>
          <a:noFill/>
        </p:spPr>
        <p:txBody>
          <a:bodyPr wrap="square">
            <a:spAutoFit/>
          </a:bodyPr>
          <a:lstStyle/>
          <a:p>
            <a:pPr>
              <a:defRPr sz="2800" b="1">
                <a:solidFill>
                  <a:srgbClr val="38BDF8"/>
                </a:solidFill>
                <a:latin typeface="Calibri"/>
              </a:defRPr>
            </a:pPr>
            <a:r>
              <a:t>5. Conclusion &amp; Key Takeaways</a:t>
            </a:r>
          </a:p>
        </p:txBody>
      </p:sp>
      <p:sp>
        <p:nvSpPr>
          <p:cNvPr id="4" name="TextBox 3"/>
          <p:cNvSpPr txBox="1"/>
          <p:nvPr/>
        </p:nvSpPr>
        <p:spPr>
          <a:xfrm>
            <a:off x="10241280" y="502920"/>
            <a:ext cx="1097280" cy="457200"/>
          </a:xfrm>
          <a:prstGeom prst="rect">
            <a:avLst/>
          </a:prstGeom>
          <a:noFill/>
        </p:spPr>
        <p:txBody>
          <a:bodyPr wrap="none">
            <a:spAutoFit/>
          </a:bodyPr>
          <a:lstStyle/>
          <a:p>
            <a:pPr algn="r">
              <a:defRPr sz="1400" b="1">
                <a:solidFill>
                  <a:srgbClr val="94A3B8"/>
                </a:solidFill>
              </a:defRPr>
            </a:pPr>
            <a:r>
              <a:t>6 / 6</a:t>
            </a:r>
          </a:p>
        </p:txBody>
      </p:sp>
      <p:sp>
        <p:nvSpPr>
          <p:cNvPr id="5" name="Rounded Rectangle 4"/>
          <p:cNvSpPr/>
          <p:nvPr/>
        </p:nvSpPr>
        <p:spPr>
          <a:xfrm>
            <a:off x="914400" y="1554480"/>
            <a:ext cx="10332720" cy="457200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874519"/>
            <a:ext cx="9418320" cy="3931920"/>
          </a:xfrm>
          <a:prstGeom prst="rect">
            <a:avLst/>
          </a:prstGeom>
          <a:noFill/>
        </p:spPr>
        <p:txBody>
          <a:bodyPr wrap="square">
            <a:spAutoFit/>
          </a:bodyPr>
          <a:lstStyle/>
          <a:p>
            <a:pPr>
              <a:defRPr sz="2200" b="1">
                <a:solidFill>
                  <a:srgbClr val="38BDF8"/>
                </a:solidFill>
              </a:defRPr>
            </a:pPr>
            <a:r>
              <a:t>Key Takeaways</a:t>
            </a:r>
          </a:p>
          <a:p>
            <a:pPr>
              <a:spcBef>
                <a:spcPts val="1000"/>
              </a:spcBef>
            </a:pPr>
            <a:r>
              <a:rPr b="1" sz="1300">
                <a:solidFill>
                  <a:srgbClr val="F8FAFC"/>
                </a:solidFill>
              </a:rPr>
              <a:t>✔ User-Friendly DFIR: </a:t>
            </a:r>
            <a:r>
              <a:rPr sz="1300">
                <a:solidFill>
                  <a:srgbClr val="CBD5E1"/>
                </a:solidFill>
              </a:rPr>
              <a:t>Autopsy simplifies complex Sleuth Kit forensic commands into an intuitive GUI.</a:t>
            </a:r>
          </a:p>
          <a:p>
            <a:pPr>
              <a:spcBef>
                <a:spcPts val="1000"/>
              </a:spcBef>
            </a:pPr>
            <a:r>
              <a:rPr b="1" sz="1300">
                <a:solidFill>
                  <a:srgbClr val="F8FAFC"/>
                </a:solidFill>
              </a:rPr>
              <a:t>✔ Simple 6-Step Workflow: </a:t>
            </a:r>
            <a:r>
              <a:rPr sz="1300">
                <a:solidFill>
                  <a:srgbClr val="CBD5E1"/>
                </a:solidFill>
              </a:rPr>
              <a:t>From Case Creation ➔ Ingest Analysis ➔ Scope Configuration ➔ Review.</a:t>
            </a:r>
          </a:p>
          <a:p>
            <a:pPr>
              <a:spcBef>
                <a:spcPts val="1000"/>
              </a:spcBef>
            </a:pPr>
            <a:r>
              <a:rPr b="1" sz="1300">
                <a:solidFill>
                  <a:srgbClr val="F8FAFC"/>
                </a:solidFill>
              </a:rPr>
              <a:t>✔ Selective Tagging: </a:t>
            </a:r>
            <a:r>
              <a:rPr sz="1300">
                <a:solidFill>
                  <a:srgbClr val="CBD5E1"/>
                </a:solidFill>
              </a:rPr>
              <a:t>Allows examiners to export only notable evidence without data-dumping thousands of OS files.</a:t>
            </a:r>
          </a:p>
          <a:p>
            <a:pPr>
              <a:spcBef>
                <a:spcPts val="1000"/>
              </a:spcBef>
            </a:pPr>
            <a:r>
              <a:rPr b="1" sz="1300">
                <a:solidFill>
                  <a:srgbClr val="F8FAFC"/>
                </a:solidFill>
              </a:rPr>
              <a:t>✔ Legally Defensible: </a:t>
            </a:r>
            <a:r>
              <a:rPr sz="1300">
                <a:solidFill>
                  <a:srgbClr val="CBD5E1"/>
                </a:solidFill>
              </a:rPr>
              <a:t>Stores cryptographic hashes and examiner details to ensure strict chain of custody.</a:t>
            </a:r>
          </a:p>
          <a:p>
            <a:pPr>
              <a:spcBef>
                <a:spcPts val="1000"/>
              </a:spcBef>
            </a:pPr>
            <a:r>
              <a:rPr b="1" sz="1300">
                <a:solidFill>
                  <a:srgbClr val="F8FAFC"/>
                </a:solidFill>
              </a:rPr>
              <a:t>✔ Flexible Outputs: </a:t>
            </a:r>
            <a:r>
              <a:rPr sz="1300">
                <a:solidFill>
                  <a:srgbClr val="CBD5E1"/>
                </a:solidFill>
              </a:rPr>
              <a:t>Interactive HTML for browsing, PDF for formal evaluation, and Excel for log filtering.</a:t>
            </a:r>
          </a:p>
          <a:p>
            <a:pPr algn="ctr">
              <a:spcBef>
                <a:spcPts val="2200"/>
              </a:spcBef>
              <a:defRPr sz="1800" b="1">
                <a:solidFill>
                  <a:srgbClr val="34D399"/>
                </a:solidFill>
              </a:defRPr>
            </a:pPr>
            <a:r>
              <a:t>Thank You! Any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